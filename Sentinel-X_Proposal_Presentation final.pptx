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30" r:id="rId1"/>
  </p:sldMasterIdLst>
  <p:sldIdLst>
    <p:sldId id="256" r:id="rId2"/>
    <p:sldId id="257" r:id="rId3"/>
    <p:sldId id="258" r:id="rId4"/>
    <p:sldId id="260" r:id="rId5"/>
    <p:sldId id="259" r:id="rId6"/>
    <p:sldId id="261" r:id="rId7"/>
    <p:sldId id="262" r:id="rId8"/>
    <p:sldId id="279" r:id="rId9"/>
    <p:sldId id="280" r:id="rId10"/>
    <p:sldId id="263" r:id="rId11"/>
    <p:sldId id="264" r:id="rId12"/>
    <p:sldId id="265" r:id="rId13"/>
    <p:sldId id="266" r:id="rId14"/>
    <p:sldId id="274" r:id="rId15"/>
    <p:sldId id="281" r:id="rId16"/>
    <p:sldId id="275" r:id="rId17"/>
    <p:sldId id="267" r:id="rId18"/>
    <p:sldId id="268" r:id="rId19"/>
    <p:sldId id="276" r:id="rId20"/>
    <p:sldId id="277" r:id="rId21"/>
    <p:sldId id="278" r:id="rId22"/>
    <p:sldId id="269" r:id="rId23"/>
    <p:sldId id="271" r:id="rId24"/>
    <p:sldId id="283" r:id="rId25"/>
    <p:sldId id="282" r:id="rId26"/>
    <p:sldId id="272" r:id="rId27"/>
  </p:sldIdLst>
  <p:sldSz cx="9144000" cy="6858000" type="screen4x3"/>
  <p:notesSz cx="7315200" cy="96012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4637"/>
  </p:normalViewPr>
  <p:slideViewPr>
    <p:cSldViewPr>
      <p:cViewPr varScale="1">
        <p:scale>
          <a:sx n="56" d="100"/>
          <a:sy n="56" d="100"/>
        </p:scale>
        <p:origin x="1580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bdul Ahad" userId="8cccd2e8656fb6aa" providerId="LiveId" clId="{ED84DF1F-1306-4927-9311-29BB381AB220}"/>
    <pc:docChg chg="undo custSel modSld">
      <pc:chgData name="Abdul Ahad" userId="8cccd2e8656fb6aa" providerId="LiveId" clId="{ED84DF1F-1306-4927-9311-29BB381AB220}" dt="2026-09-10T05:58:23.709" v="2"/>
      <pc:docMkLst>
        <pc:docMk/>
      </pc:docMkLst>
      <pc:sldChg chg="modSp mod">
        <pc:chgData name="Abdul Ahad" userId="8cccd2e8656fb6aa" providerId="LiveId" clId="{ED84DF1F-1306-4927-9311-29BB381AB220}" dt="2026-09-10T05:58:23.709" v="2"/>
        <pc:sldMkLst>
          <pc:docMk/>
          <pc:sldMk cId="0" sldId="259"/>
        </pc:sldMkLst>
        <pc:graphicFrameChg chg="mod modGraphic">
          <ac:chgData name="Abdul Ahad" userId="8cccd2e8656fb6aa" providerId="LiveId" clId="{ED84DF1F-1306-4927-9311-29BB381AB220}" dt="2026-09-10T05:58:23.709" v="2"/>
          <ac:graphicFrameMkLst>
            <pc:docMk/>
            <pc:sldMk cId="0" sldId="259"/>
            <ac:graphicFrameMk id="6" creationId="{33D5DAD4-B562-A41C-9C6A-FB996BE522AC}"/>
          </ac:graphicFrameMkLst>
        </pc:graphicFrame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EB62FDA-C3A1-4485-94ED-8D5328978C71}" type="datetimeFigureOut">
              <a:rPr lang="en-US"/>
              <a:pPr>
                <a:defRPr/>
              </a:pPr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38A8F7E-26DE-43B8-861F-88D6AF6B6EA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45134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D8807AF-0B8F-471E-BA59-6B19150596A0}" type="datetimeFigureOut">
              <a:rPr lang="en-US"/>
              <a:pPr>
                <a:defRPr/>
              </a:pPr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6360B40-061E-4F84-BA61-C2718CEB928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17355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03F4994-0678-42BF-89BB-2A2111B35EC2}" type="datetimeFigureOut">
              <a:rPr lang="en-US"/>
              <a:pPr>
                <a:defRPr/>
              </a:pPr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2806023-F377-4656-8959-B78E94F885E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27402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179BFE4-6C92-46A8-952F-57A802E8789E}" type="datetimeFigureOut">
              <a:rPr lang="en-US"/>
              <a:pPr>
                <a:defRPr/>
              </a:pPr>
              <a:t>9/15/2026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C023BD5-857C-4627-8055-65D381668FE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93933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10472BC-7C78-4A03-9929-F499D30448A0}" type="datetimeFigureOut">
              <a:rPr lang="en-US"/>
              <a:pPr>
                <a:defRPr/>
              </a:pPr>
              <a:t>9/15/2026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0CBC86D-773F-43FE-8E4D-65D76D8E08D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58654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C4A73C6-0042-455E-8B2F-75B2189B5283}" type="datetimeFigureOut">
              <a:rPr lang="en-US"/>
              <a:pPr>
                <a:defRPr/>
              </a:pPr>
              <a:t>9/15/2026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285154C-27AA-41D7-A83F-562448F81A6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67921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45F7CCB-C2F4-44F8-A1ED-76504DF8BDBC}" type="datetimeFigureOut">
              <a:rPr lang="en-US"/>
              <a:pPr>
                <a:defRPr/>
              </a:pPr>
              <a:t>9/15/2026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E9D0B81-D738-47BD-B272-501509EDC67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45043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05D84C3-2DCE-4BE0-9311-8CB1C190C7E8}" type="datetimeFigureOut">
              <a:rPr lang="en-US"/>
              <a:pPr>
                <a:defRPr/>
              </a:pPr>
              <a:t>9/15/2026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A14EB9-794F-4DAA-84E7-248B4BED029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2762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3D5DE9F-D025-4A96-9436-A9B54598C24A}" type="datetimeFigureOut">
              <a:rPr lang="en-US"/>
              <a:pPr>
                <a:defRPr/>
              </a:pPr>
              <a:t>9/15/2026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08E42D6-2A26-479A-9B16-2F701678AE2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16068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DF9D5E0-4F80-4C37-BE2D-2254170079DA}" type="datetimeFigureOut">
              <a:rPr lang="en-US"/>
              <a:pPr>
                <a:defRPr/>
              </a:pPr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EC21C67-2251-4F43-AF36-005A94535C9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30237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F1E8BB8-8D90-489A-8AF2-46E7BE23BAFA}" type="datetimeFigureOut">
              <a:rPr lang="en-US"/>
              <a:pPr>
                <a:defRPr/>
              </a:pPr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2494F58-CD59-4AA2-8C1F-6EBD5A9D75B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34070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A63F3F4-13F2-4143-9618-08A48950E4B2}" type="datetimeFigureOut">
              <a:rPr lang="en-US"/>
              <a:pPr>
                <a:defRPr/>
              </a:pPr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59A044B-FC12-4343-995C-1E329064C69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31" r:id="rId1"/>
    <p:sldLayoutId id="2147483832" r:id="rId2"/>
    <p:sldLayoutId id="2147483833" r:id="rId3"/>
    <p:sldLayoutId id="2147483834" r:id="rId4"/>
    <p:sldLayoutId id="2147483835" r:id="rId5"/>
    <p:sldLayoutId id="2147483836" r:id="rId6"/>
    <p:sldLayoutId id="2147483837" r:id="rId7"/>
    <p:sldLayoutId id="2147483838" r:id="rId8"/>
    <p:sldLayoutId id="2147483839" r:id="rId9"/>
    <p:sldLayoutId id="2147483840" r:id="rId10"/>
    <p:sldLayoutId id="2147483841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Final Year Project Proposal</a:t>
            </a:r>
          </a:p>
        </p:txBody>
      </p:sp>
      <p:sp>
        <p:nvSpPr>
          <p:cNvPr id="5123" name="Subtitle 2"/>
          <p:cNvSpPr>
            <a:spLocks noGrp="1"/>
          </p:cNvSpPr>
          <p:nvPr>
            <p:ph type="subTitle" idx="1"/>
          </p:nvPr>
        </p:nvSpPr>
        <p:spPr/>
        <p:txBody>
          <a:bodyPr rtlCol="0">
            <a:normAutofit fontScale="92500" lnSpcReduction="20000"/>
          </a:bodyPr>
          <a:lstStyle/>
          <a:p>
            <a:pPr marL="63500" eaLnBrk="1" fontAlgn="auto" hangingPunct="1"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Sentinel-X: Secure AI-Powered Wi-Fi Indoor Positioning and Intelligent Asset Tracking System</a:t>
            </a:r>
          </a:p>
          <a:p>
            <a:pPr marL="63500" eaLnBrk="1" fontAlgn="auto" hangingPunct="1">
              <a:spcAft>
                <a:spcPts val="0"/>
              </a:spcAft>
              <a:buFont typeface="Arial" pitchFamily="34" charset="0"/>
              <a:buNone/>
              <a:defRPr/>
            </a:pPr>
            <a:endParaRPr lang="en-US" sz="18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3500" eaLnBrk="1" fontAlgn="auto" hangingPunct="1"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1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Supervised By: Syed Yawar Abbass Zaidi</a:t>
            </a:r>
          </a:p>
        </p:txBody>
      </p:sp>
      <p:pic>
        <p:nvPicPr>
          <p:cNvPr id="2052" name="Picture 3" descr="Riphah.jpg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3033" t="4065" r="6926" b="4926"/>
          <a:stretch>
            <a:fillRect/>
          </a:stretch>
        </p:blipFill>
        <p:spPr bwMode="auto">
          <a:xfrm>
            <a:off x="4076700" y="1295400"/>
            <a:ext cx="990600" cy="129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Team</a:t>
            </a:r>
          </a:p>
        </p:txBody>
      </p:sp>
      <p:sp>
        <p:nvSpPr>
          <p:cNvPr id="3075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buFont typeface="Wingdings" panose="05000000000000000000" pitchFamily="2" charset="2"/>
              <a:buChar char="q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Muhammad Awais Ali (53015)</a:t>
            </a:r>
          </a:p>
          <a:p>
            <a:pPr eaLnBrk="1" hangingPunct="1">
              <a:buFont typeface="Wingdings" panose="05000000000000000000" pitchFamily="2" charset="2"/>
              <a:buChar char="q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Abdul Ahad (47374)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Table of Content</a:t>
            </a:r>
          </a:p>
        </p:txBody>
      </p:sp>
      <p:sp>
        <p:nvSpPr>
          <p:cNvPr id="4099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buFont typeface="Wingdings" panose="05000000000000000000" pitchFamily="2" charset="2"/>
              <a:buChar char="q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Opportunity &amp; Stakeholders</a:t>
            </a:r>
          </a:p>
          <a:p>
            <a:pPr eaLnBrk="1" hangingPunct="1">
              <a:buFont typeface="Wingdings" panose="05000000000000000000" pitchFamily="2" charset="2"/>
              <a:buChar char="q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Systems</a:t>
            </a:r>
          </a:p>
          <a:p>
            <a:pPr eaLnBrk="1" hangingPunct="1">
              <a:buFont typeface="Wingdings" panose="05000000000000000000" pitchFamily="2" charset="2"/>
              <a:buChar char="q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  <a:p>
            <a:pPr eaLnBrk="1" hangingPunct="1">
              <a:buFont typeface="Wingdings" panose="05000000000000000000" pitchFamily="2" charset="2"/>
              <a:buChar char="q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Solution</a:t>
            </a:r>
          </a:p>
          <a:p>
            <a:pPr eaLnBrk="1" hangingPunct="1">
              <a:buFont typeface="Wingdings" panose="05000000000000000000" pitchFamily="2" charset="2"/>
              <a:buChar char="q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Scope</a:t>
            </a:r>
          </a:p>
          <a:p>
            <a:pPr eaLnBrk="1" hangingPunct="1">
              <a:buFont typeface="Wingdings" panose="05000000000000000000" pitchFamily="2" charset="2"/>
              <a:buChar char="q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Timeline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57200" y="4406900"/>
            <a:ext cx="8839200" cy="1362075"/>
          </a:xfrm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Opportunity &amp; Stakeholders</a:t>
            </a:r>
          </a:p>
        </p:txBody>
      </p:sp>
      <p:sp>
        <p:nvSpPr>
          <p:cNvPr id="8195" name="Text Placeholder 4"/>
          <p:cNvSpPr>
            <a:spLocks noGrp="1"/>
          </p:cNvSpPr>
          <p:nvPr>
            <p:ph type="body" idx="1"/>
          </p:nvPr>
        </p:nvSpPr>
        <p:spPr/>
        <p:txBody>
          <a:bodyPr rtlCol="0">
            <a:normAutofit/>
          </a:bodyPr>
          <a:lstStyle/>
          <a:p>
            <a:pPr marL="44450" eaLnBrk="1" fontAlgn="auto" hangingPunct="1"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a secure, AI-powered indoor positioning system is needed, and who benefits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/>
          <p:cNvSpPr>
            <a:spLocks noGrp="1"/>
          </p:cNvSpPr>
          <p:nvPr>
            <p:ph type="title"/>
          </p:nvPr>
        </p:nvSpPr>
        <p:spPr>
          <a:xfrm>
            <a:off x="212200" y="99060"/>
            <a:ext cx="8839200" cy="1143000"/>
          </a:xfrm>
        </p:spPr>
        <p:txBody>
          <a:bodyPr/>
          <a:lstStyle/>
          <a:p>
            <a:pPr eaLnBrk="1" hangingPunct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Opportunity &amp; Stakeholders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33D5DAD4-B562-A41C-9C6A-FB996BE522A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59847437"/>
              </p:ext>
            </p:extLst>
          </p:nvPr>
        </p:nvGraphicFramePr>
        <p:xfrm>
          <a:off x="533400" y="1242060"/>
          <a:ext cx="8305800" cy="43967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152900">
                  <a:extLst>
                    <a:ext uri="{9D8B030D-6E8A-4147-A177-3AD203B41FA5}">
                      <a16:colId xmlns:a16="http://schemas.microsoft.com/office/drawing/2014/main" val="454191080"/>
                    </a:ext>
                  </a:extLst>
                </a:gridCol>
                <a:gridCol w="4152900">
                  <a:extLst>
                    <a:ext uri="{9D8B030D-6E8A-4147-A177-3AD203B41FA5}">
                      <a16:colId xmlns:a16="http://schemas.microsoft.com/office/drawing/2014/main" val="1085633164"/>
                    </a:ext>
                  </a:extLst>
                </a:gridCol>
              </a:tblGrid>
              <a:tr h="40828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Opportunity</a:t>
                      </a:r>
                    </a:p>
                  </a:txBody>
                  <a:tcPr marL="85396" marR="85396" marT="42698" marB="426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Stakeholders</a:t>
                      </a:r>
                    </a:p>
                  </a:txBody>
                  <a:tcPr marL="85396" marR="85396" marT="42698" marB="426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15848463"/>
                  </a:ext>
                </a:extLst>
              </a:tr>
              <a:tr h="132948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7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GPS is unreliable indoors, leaving universities, labs, hospitals, and offices without accurate real-time asset or personnel location.</a:t>
                      </a:r>
                    </a:p>
                  </a:txBody>
                  <a:tcPr marL="85396" marR="85396" marT="42698" marB="426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7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Faculty of Computing, Riphah International University</a:t>
                      </a:r>
                    </a:p>
                  </a:txBody>
                  <a:tcPr marL="85396" marR="85396" marT="42698" marB="426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70904969"/>
                  </a:ext>
                </a:extLst>
              </a:tr>
              <a:tr h="132948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7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Existing options (RFID, BLE, UWB) are costly or difficult to scale; Wi-Fi reuses existing infrastructure, making it a more affordable option.</a:t>
                      </a:r>
                    </a:p>
                  </a:txBody>
                  <a:tcPr marL="85396" marR="85396" marT="42698" marB="426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7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Campus administrators and IT/security staff who would monitor assets through the dashboard</a:t>
                      </a:r>
                    </a:p>
                  </a:txBody>
                  <a:tcPr marL="85396" marR="85396" marT="42698" marB="426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92680698"/>
                  </a:ext>
                </a:extLst>
              </a:tr>
              <a:tr h="132948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7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Most Wi-Fi positioning research overlooks cybersecurity, creating an opportunity for a secure, AI-enhanced alternative.</a:t>
                      </a:r>
                    </a:p>
                  </a:txBody>
                  <a:tcPr marL="85396" marR="85396" marT="42698" marB="426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7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Future adopters in hospitals, laboratories, and offices with similar indoor tracking needs</a:t>
                      </a:r>
                    </a:p>
                    <a:p>
                      <a:pPr>
                        <a:buNone/>
                      </a:pPr>
                      <a:endParaRPr lang="en-GB" sz="17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5396" marR="85396" marT="42698" marB="426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4336521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Systems</a:t>
            </a:r>
          </a:p>
        </p:txBody>
      </p:sp>
      <p:sp>
        <p:nvSpPr>
          <p:cNvPr id="10243" name="Text Placeholder 4"/>
          <p:cNvSpPr>
            <a:spLocks noGrp="1"/>
          </p:cNvSpPr>
          <p:nvPr>
            <p:ph type="body" idx="1"/>
          </p:nvPr>
        </p:nvSpPr>
        <p:spPr/>
        <p:txBody>
          <a:bodyPr rtlCol="0">
            <a:normAutofit/>
          </a:bodyPr>
          <a:lstStyle/>
          <a:p>
            <a:pPr marL="44450" eaLnBrk="1" fontAlgn="auto" hangingPunct="1"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Reviewing Wi-Fi, BLE, RFID and UWB indoor positioning research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Systems</a:t>
            </a:r>
          </a:p>
        </p:txBody>
      </p:sp>
      <p:sp>
        <p:nvSpPr>
          <p:cNvPr id="8195" name="Content Placeholder 2"/>
          <p:cNvSpPr>
            <a:spLocks noGrp="1"/>
          </p:cNvSpPr>
          <p:nvPr>
            <p:ph idx="1"/>
          </p:nvPr>
        </p:nvSpPr>
        <p:spPr>
          <a:xfrm>
            <a:off x="457200" y="1828800"/>
            <a:ext cx="8229600" cy="5181600"/>
          </a:xfrm>
        </p:spPr>
        <p:txBody>
          <a:bodyPr>
            <a:normAutofit fontScale="97500"/>
          </a:bodyPr>
          <a:lstStyle/>
          <a:p>
            <a:pPr eaLnBrk="1" fontAlgn="auto" hangingPunct="1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Technologies</a:t>
            </a:r>
            <a:r>
              <a:rPr lang="en-US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RFID, BLE, UWB and Wi-Fi have all been used for indoor positioning; Wi-Fi is favored for reusing existing network infrastructure and lower cost</a:t>
            </a:r>
          </a:p>
          <a:p>
            <a:pPr eaLnBrk="1" fontAlgn="auto" hangingPunct="1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Beigi &amp; Shah-Mansouri (2024): 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Hybrid Wi-Fi + BLE localization with ESP32, Kalman Filter and RNN; good accuracy but no dedicated security</a:t>
            </a:r>
          </a:p>
          <a:p>
            <a:pPr eaLnBrk="1" fontAlgn="auto" hangingPunct="1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Long et al. – EP-3DLoc:</a:t>
            </a:r>
            <a:r>
              <a:rPr lang="en-US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RSSI-based localization across multi-building, multi-floor environments using data completion and position-related features</a:t>
            </a:r>
          </a:p>
          <a:p>
            <a:pPr eaLnBrk="1" fontAlgn="auto" hangingPunct="1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Hussein et al</a:t>
            </a:r>
            <a:r>
              <a:rPr lang="en-US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.: 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MCA-based noise reduction with LSTM classification reported 97.5% accuracy, but did not address security</a:t>
            </a:r>
          </a:p>
          <a:p>
            <a:pPr eaLnBrk="1" fontAlgn="auto" hangingPunct="1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Common gap</a:t>
            </a:r>
            <a:r>
              <a:rPr lang="en-US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systems emphasize localization accuracy while giving limited attention to authentication, encryption and anomaly detection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44DFFB-91FD-8852-72D0-0C8E580D78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itle 1">
            <a:extLst>
              <a:ext uri="{FF2B5EF4-FFF2-40B4-BE49-F238E27FC236}">
                <a16:creationId xmlns:a16="http://schemas.microsoft.com/office/drawing/2014/main" id="{92CF31BA-10D3-E584-8788-C198DA52BC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" y="152400"/>
            <a:ext cx="8915400" cy="1143000"/>
          </a:xfrm>
        </p:spPr>
        <p:txBody>
          <a:bodyPr/>
          <a:lstStyle/>
          <a:p>
            <a:pPr eaLnBrk="1" hangingPunct="1"/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Comparison Chart of Existing Systems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3" name="Content Placeholder 2">
            <a:extLst>
              <a:ext uri="{FF2B5EF4-FFF2-40B4-BE49-F238E27FC236}">
                <a16:creationId xmlns:a16="http://schemas.microsoft.com/office/drawing/2014/main" id="{46542103-F632-47BF-267D-47A82599A2C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52091850"/>
              </p:ext>
            </p:extLst>
          </p:nvPr>
        </p:nvGraphicFramePr>
        <p:xfrm>
          <a:off x="152400" y="1143000"/>
          <a:ext cx="8839200" cy="436917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73200">
                  <a:extLst>
                    <a:ext uri="{9D8B030D-6E8A-4147-A177-3AD203B41FA5}">
                      <a16:colId xmlns:a16="http://schemas.microsoft.com/office/drawing/2014/main" val="1383318212"/>
                    </a:ext>
                  </a:extLst>
                </a:gridCol>
                <a:gridCol w="1473200">
                  <a:extLst>
                    <a:ext uri="{9D8B030D-6E8A-4147-A177-3AD203B41FA5}">
                      <a16:colId xmlns:a16="http://schemas.microsoft.com/office/drawing/2014/main" val="3572692503"/>
                    </a:ext>
                  </a:extLst>
                </a:gridCol>
                <a:gridCol w="1473200">
                  <a:extLst>
                    <a:ext uri="{9D8B030D-6E8A-4147-A177-3AD203B41FA5}">
                      <a16:colId xmlns:a16="http://schemas.microsoft.com/office/drawing/2014/main" val="3152708976"/>
                    </a:ext>
                  </a:extLst>
                </a:gridCol>
                <a:gridCol w="1473200">
                  <a:extLst>
                    <a:ext uri="{9D8B030D-6E8A-4147-A177-3AD203B41FA5}">
                      <a16:colId xmlns:a16="http://schemas.microsoft.com/office/drawing/2014/main" val="686246398"/>
                    </a:ext>
                  </a:extLst>
                </a:gridCol>
                <a:gridCol w="1473200">
                  <a:extLst>
                    <a:ext uri="{9D8B030D-6E8A-4147-A177-3AD203B41FA5}">
                      <a16:colId xmlns:a16="http://schemas.microsoft.com/office/drawing/2014/main" val="233446037"/>
                    </a:ext>
                  </a:extLst>
                </a:gridCol>
                <a:gridCol w="1473200">
                  <a:extLst>
                    <a:ext uri="{9D8B030D-6E8A-4147-A177-3AD203B41FA5}">
                      <a16:colId xmlns:a16="http://schemas.microsoft.com/office/drawing/2014/main" val="4011769543"/>
                    </a:ext>
                  </a:extLst>
                </a:gridCol>
              </a:tblGrid>
              <a:tr h="58441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7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System / Study</a:t>
                      </a:r>
                    </a:p>
                  </a:txBody>
                  <a:tcPr marL="41787" marR="41787" marT="20894" marB="208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7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Technology</a:t>
                      </a:r>
                    </a:p>
                  </a:txBody>
                  <a:tcPr marL="41787" marR="41787" marT="20894" marB="208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7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AI / ML</a:t>
                      </a:r>
                    </a:p>
                  </a:txBody>
                  <a:tcPr marL="41787" marR="41787" marT="20894" marB="208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7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Security</a:t>
                      </a:r>
                    </a:p>
                  </a:txBody>
                  <a:tcPr marL="41787" marR="41787" marT="20894" marB="208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7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Main Limitation</a:t>
                      </a:r>
                    </a:p>
                  </a:txBody>
                  <a:tcPr marL="41787" marR="41787" marT="20894" marB="208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7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Sentinel-X Improvement</a:t>
                      </a:r>
                    </a:p>
                  </a:txBody>
                  <a:tcPr marL="41787" marR="41787" marT="20894" marB="208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06981495"/>
                  </a:ext>
                </a:extLst>
              </a:tr>
              <a:tr h="150792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7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Beigi &amp; Shah-Mansouri (2024)</a:t>
                      </a:r>
                    </a:p>
                  </a:txBody>
                  <a:tcPr marL="41787" marR="41787" marT="20894" marB="208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7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Wi-Fi + BLE / ESP32</a:t>
                      </a:r>
                    </a:p>
                  </a:txBody>
                  <a:tcPr marL="41787" marR="41787" marT="20894" marB="208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7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Kalman Filter, KNN, RNN</a:t>
                      </a:r>
                    </a:p>
                  </a:txBody>
                  <a:tcPr marL="41787" marR="41787" marT="20894" marB="208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7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 dedicated security</a:t>
                      </a:r>
                    </a:p>
                  </a:txBody>
                  <a:tcPr marL="41787" marR="41787" marT="20894" marB="208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7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Mainly focuses on localization</a:t>
                      </a:r>
                    </a:p>
                  </a:txBody>
                  <a:tcPr marL="41787" marR="41787" marT="20894" marB="208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7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Adds security, anomaly detection, dashboard &amp; asset monitoring</a:t>
                      </a:r>
                    </a:p>
                  </a:txBody>
                  <a:tcPr marL="41787" marR="41787" marT="20894" marB="208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0258850"/>
                  </a:ext>
                </a:extLst>
              </a:tr>
              <a:tr h="111038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7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Adaptive Wi-Fi Fingerprinting (2024)</a:t>
                      </a:r>
                    </a:p>
                  </a:txBody>
                  <a:tcPr marL="41787" marR="41787" marT="20894" marB="208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7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Wi-Fi RSSI</a:t>
                      </a:r>
                    </a:p>
                  </a:txBody>
                  <a:tcPr marL="41787" marR="41787" marT="20894" marB="208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7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DNN</a:t>
                      </a:r>
                    </a:p>
                  </a:txBody>
                  <a:tcPr marL="41787" marR="41787" marT="20894" marB="208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7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Not addressed</a:t>
                      </a:r>
                    </a:p>
                  </a:txBody>
                  <a:tcPr marL="41787" marR="41787" marT="20894" marB="208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7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Needs complex data and high computing resources</a:t>
                      </a:r>
                    </a:p>
                  </a:txBody>
                  <a:tcPr marL="41787" marR="41787" marT="20894" marB="208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7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Uses simpler, low-cost AI techniques</a:t>
                      </a:r>
                    </a:p>
                  </a:txBody>
                  <a:tcPr marL="41787" marR="41787" marT="20894" marB="208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22005692"/>
                  </a:ext>
                </a:extLst>
              </a:tr>
              <a:tr h="101844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7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Wi-Fi Fingerprinting Datasets Review (2024)</a:t>
                      </a:r>
                    </a:p>
                  </a:txBody>
                  <a:tcPr marL="41787" marR="41787" marT="20894" marB="208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7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Wi-Fi RSSI</a:t>
                      </a:r>
                    </a:p>
                  </a:txBody>
                  <a:tcPr marL="41787" marR="41787" marT="20894" marB="208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7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Fingerprinting</a:t>
                      </a:r>
                    </a:p>
                  </a:txBody>
                  <a:tcPr marL="41787" marR="41787" marT="20894" marB="208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7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Not addressed</a:t>
                      </a:r>
                    </a:p>
                  </a:txBody>
                  <a:tcPr marL="41787" marR="41787" marT="20894" marB="208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7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Sensitive to environmental changes</a:t>
                      </a:r>
                    </a:p>
                  </a:txBody>
                  <a:tcPr marL="41787" marR="41787" marT="20894" marB="208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7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Uses RSSI calibration and AI-assisted localization</a:t>
                      </a:r>
                    </a:p>
                  </a:txBody>
                  <a:tcPr marL="41787" marR="41787" marT="20894" marB="2089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2069273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879284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A21537-E622-A61A-C960-5224BD2E60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itle 1">
            <a:extLst>
              <a:ext uri="{FF2B5EF4-FFF2-40B4-BE49-F238E27FC236}">
                <a16:creationId xmlns:a16="http://schemas.microsoft.com/office/drawing/2014/main" id="{ECFD1809-98C7-464F-9383-060FE26347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52400"/>
            <a:ext cx="1600200" cy="1143000"/>
          </a:xfrm>
        </p:spPr>
        <p:txBody>
          <a:bodyPr/>
          <a:lstStyle/>
          <a:p>
            <a:pPr eaLnBrk="1" hangingPunct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Cont..</a:t>
            </a:r>
          </a:p>
        </p:txBody>
      </p:sp>
      <p:graphicFrame>
        <p:nvGraphicFramePr>
          <p:cNvPr id="8" name="Content Placeholder 7">
            <a:extLst>
              <a:ext uri="{FF2B5EF4-FFF2-40B4-BE49-F238E27FC236}">
                <a16:creationId xmlns:a16="http://schemas.microsoft.com/office/drawing/2014/main" id="{6A8D2B49-4560-2670-2F60-E11E107E26F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49002484"/>
              </p:ext>
            </p:extLst>
          </p:nvPr>
        </p:nvGraphicFramePr>
        <p:xfrm>
          <a:off x="304800" y="1239566"/>
          <a:ext cx="8534400" cy="437886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00200">
                  <a:extLst>
                    <a:ext uri="{9D8B030D-6E8A-4147-A177-3AD203B41FA5}">
                      <a16:colId xmlns:a16="http://schemas.microsoft.com/office/drawing/2014/main" val="3131079594"/>
                    </a:ext>
                  </a:extLst>
                </a:gridCol>
                <a:gridCol w="1244600">
                  <a:extLst>
                    <a:ext uri="{9D8B030D-6E8A-4147-A177-3AD203B41FA5}">
                      <a16:colId xmlns:a16="http://schemas.microsoft.com/office/drawing/2014/main" val="1707482759"/>
                    </a:ext>
                  </a:extLst>
                </a:gridCol>
                <a:gridCol w="1422400">
                  <a:extLst>
                    <a:ext uri="{9D8B030D-6E8A-4147-A177-3AD203B41FA5}">
                      <a16:colId xmlns:a16="http://schemas.microsoft.com/office/drawing/2014/main" val="648968187"/>
                    </a:ext>
                  </a:extLst>
                </a:gridCol>
                <a:gridCol w="1422400">
                  <a:extLst>
                    <a:ext uri="{9D8B030D-6E8A-4147-A177-3AD203B41FA5}">
                      <a16:colId xmlns:a16="http://schemas.microsoft.com/office/drawing/2014/main" val="2354244085"/>
                    </a:ext>
                  </a:extLst>
                </a:gridCol>
                <a:gridCol w="1422400">
                  <a:extLst>
                    <a:ext uri="{9D8B030D-6E8A-4147-A177-3AD203B41FA5}">
                      <a16:colId xmlns:a16="http://schemas.microsoft.com/office/drawing/2014/main" val="69484145"/>
                    </a:ext>
                  </a:extLst>
                </a:gridCol>
                <a:gridCol w="1422400">
                  <a:extLst>
                    <a:ext uri="{9D8B030D-6E8A-4147-A177-3AD203B41FA5}">
                      <a16:colId xmlns:a16="http://schemas.microsoft.com/office/drawing/2014/main" val="1750072704"/>
                    </a:ext>
                  </a:extLst>
                </a:gridCol>
              </a:tblGrid>
              <a:tr h="59140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7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System / Study</a:t>
                      </a:r>
                    </a:p>
                  </a:txBody>
                  <a:tcPr marL="36500" marR="36500" marT="18250" marB="18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7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Technology</a:t>
                      </a:r>
                    </a:p>
                  </a:txBody>
                  <a:tcPr marL="36500" marR="36500" marT="18250" marB="18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7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AI / ML</a:t>
                      </a:r>
                    </a:p>
                  </a:txBody>
                  <a:tcPr marL="36500" marR="36500" marT="18250" marB="18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7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Security</a:t>
                      </a:r>
                    </a:p>
                  </a:txBody>
                  <a:tcPr marL="36500" marR="36500" marT="18250" marB="18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7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Main Limitation</a:t>
                      </a:r>
                    </a:p>
                  </a:txBody>
                  <a:tcPr marL="36500" marR="36500" marT="18250" marB="18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7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Sentinel-X Improvement</a:t>
                      </a:r>
                    </a:p>
                  </a:txBody>
                  <a:tcPr marL="36500" marR="36500" marT="18250" marB="18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93943657"/>
                  </a:ext>
                </a:extLst>
              </a:tr>
              <a:tr h="112366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7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Comparative Analysis on Wi-Fi Indoor Positioning (2024)</a:t>
                      </a:r>
                    </a:p>
                  </a:txBody>
                  <a:tcPr marL="36500" marR="36500" marT="18250" marB="18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7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Wi-Fi RSSI</a:t>
                      </a:r>
                    </a:p>
                  </a:txBody>
                  <a:tcPr marL="36500" marR="36500" marT="18250" marB="18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7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AI Fingerprinting</a:t>
                      </a:r>
                    </a:p>
                  </a:txBody>
                  <a:tcPr marL="36500" marR="36500" marT="18250" marB="18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7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Limited</a:t>
                      </a:r>
                    </a:p>
                  </a:txBody>
                  <a:tcPr marL="36500" marR="36500" marT="18250" marB="18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7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Focuses mainly on positioning</a:t>
                      </a:r>
                    </a:p>
                  </a:txBody>
                  <a:tcPr marL="36500" marR="36500" marT="18250" marB="18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7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Combines positioning, security and asset tracking</a:t>
                      </a:r>
                    </a:p>
                  </a:txBody>
                  <a:tcPr marL="36500" marR="36500" marT="18250" marB="18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86588878"/>
                  </a:ext>
                </a:extLst>
              </a:tr>
              <a:tr h="112366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7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ML-Based Wi-Fi/BLE Survey (2024)</a:t>
                      </a:r>
                    </a:p>
                  </a:txBody>
                  <a:tcPr marL="36500" marR="36500" marT="18250" marB="18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7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Wi-Fi + BLE</a:t>
                      </a:r>
                    </a:p>
                  </a:txBody>
                  <a:tcPr marL="36500" marR="36500" marT="18250" marB="18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7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KNN, CNN, DNN, SVM, RF</a:t>
                      </a:r>
                    </a:p>
                  </a:txBody>
                  <a:tcPr marL="36500" marR="36500" marT="18250" marB="18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7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Generally, not considered</a:t>
                      </a:r>
                    </a:p>
                  </a:txBody>
                  <a:tcPr marL="36500" marR="36500" marT="18250" marB="18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7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Focuses on accuracy and overlooks security/cost</a:t>
                      </a:r>
                    </a:p>
                  </a:txBody>
                  <a:tcPr marL="36500" marR="36500" marT="18250" marB="18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7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Focuses on affordability, security and practical deployment</a:t>
                      </a:r>
                    </a:p>
                  </a:txBody>
                  <a:tcPr marL="36500" marR="36500" marT="18250" marB="18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88353260"/>
                  </a:ext>
                </a:extLst>
              </a:tr>
              <a:tr h="112366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7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Sentinel-X</a:t>
                      </a:r>
                    </a:p>
                  </a:txBody>
                  <a:tcPr marL="36500" marR="36500" marT="18250" marB="18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7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Wi-Fi / ESP32</a:t>
                      </a:r>
                    </a:p>
                  </a:txBody>
                  <a:tcPr marL="36500" marR="36500" marT="18250" marB="18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7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Kalman Filter, KNN, Isolation Forest</a:t>
                      </a:r>
                    </a:p>
                  </a:txBody>
                  <a:tcPr marL="36500" marR="36500" marT="18250" marB="18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7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AES-256, TLS, JWT, RBAC, Replay Protection</a:t>
                      </a:r>
                    </a:p>
                  </a:txBody>
                  <a:tcPr marL="36500" marR="36500" marT="18250" marB="18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7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Prototype for controlled indoor environment</a:t>
                      </a:r>
                    </a:p>
                  </a:txBody>
                  <a:tcPr marL="36500" marR="36500" marT="18250" marB="18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7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Integrated secure AI-based indoor asset tracking</a:t>
                      </a:r>
                    </a:p>
                  </a:txBody>
                  <a:tcPr marL="36500" marR="36500" marT="18250" marB="18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4991167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218645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  <p:sp>
        <p:nvSpPr>
          <p:cNvPr id="12291" name="Text Placeholder 4"/>
          <p:cNvSpPr>
            <a:spLocks noGrp="1"/>
          </p:cNvSpPr>
          <p:nvPr>
            <p:ph type="body" idx="1"/>
          </p:nvPr>
        </p:nvSpPr>
        <p:spPr/>
        <p:txBody>
          <a:bodyPr rtlCol="0">
            <a:normAutofit/>
          </a:bodyPr>
          <a:lstStyle/>
          <a:p>
            <a:pPr marL="44450" eaLnBrk="1" fontAlgn="auto" hangingPunct="1"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Accurate, secure, low-cost indoor asset tracking is still unsolved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  <p:sp>
        <p:nvSpPr>
          <p:cNvPr id="1024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7500"/>
          </a:bodyPr>
          <a:lstStyle/>
          <a:p>
            <a:pPr eaLnBrk="1" fontAlgn="auto" hangingPunct="1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Universities and labs hold valuable equipment that needs continuous, secure, real-time monitoring</a:t>
            </a:r>
          </a:p>
          <a:p>
            <a:pPr eaLnBrk="1" fontAlgn="auto" hangingPunct="1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tracking methods are manual, expensive, or offer limited real-time visibility</a:t>
            </a:r>
          </a:p>
          <a:p>
            <a:pPr eaLnBrk="1" fontAlgn="auto" hangingPunct="1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Available indoor positioning technologies often need costly hardware or lack adequate cybersecurity protection</a:t>
            </a:r>
          </a:p>
          <a:p>
            <a:pPr eaLnBrk="1" fontAlgn="auto" hangingPunct="1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Wi-Fi-based systems suffer from inaccurate position estimates due to RSSI fluctuations from environmental interference</a:t>
            </a:r>
          </a:p>
          <a:p>
            <a:pPr eaLnBrk="1" fontAlgn="auto" hangingPunct="1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Absence of intelligent anomaly detection limits the ability to catch unauthorized asset movement or suspicious activity</a:t>
            </a:r>
          </a:p>
          <a:p>
            <a:pPr eaLnBrk="1" fontAlgn="auto" hangingPunct="1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US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Need: 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secure, intelligent, cost-effective indoor positioning system that improves accuracy while protecting communication and location data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Solution</a:t>
            </a:r>
          </a:p>
        </p:txBody>
      </p:sp>
      <p:sp>
        <p:nvSpPr>
          <p:cNvPr id="14339" name="Text Placeholder 4"/>
          <p:cNvSpPr>
            <a:spLocks noGrp="1"/>
          </p:cNvSpPr>
          <p:nvPr>
            <p:ph type="body" idx="1"/>
          </p:nvPr>
        </p:nvSpPr>
        <p:spPr/>
        <p:txBody>
          <a:bodyPr rtlCol="0">
            <a:normAutofit/>
          </a:bodyPr>
          <a:lstStyle/>
          <a:p>
            <a:pPr marL="44450" eaLnBrk="1" fontAlgn="auto" hangingPunct="1"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Sentinel-X: AI-powered, security-first Wi-Fi indoor positioning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Solution</a:t>
            </a:r>
          </a:p>
        </p:txBody>
      </p:sp>
      <p:sp>
        <p:nvSpPr>
          <p:cNvPr id="12291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7500"/>
          </a:bodyPr>
          <a:lstStyle/>
          <a:p>
            <a:pPr eaLnBrk="1" fontAlgn="auto" hangingPunct="1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</a:t>
            </a:r>
            <a:r>
              <a:rPr lang="en-US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ESP32-based tracking tags and anchor nodes collect Wi-Fi RSSI data from indoor assets and users</a:t>
            </a:r>
          </a:p>
          <a:p>
            <a:pPr eaLnBrk="1" fontAlgn="auto" hangingPunct="1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Localization</a:t>
            </a:r>
            <a:r>
              <a:rPr lang="en-US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RSSI calibration and Kalman Filtering reduce noise, followed by KNN fingerprinting</a:t>
            </a:r>
          </a:p>
          <a:p>
            <a:pPr eaLnBrk="1" fontAlgn="auto" hangingPunct="1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security layer</a:t>
            </a:r>
            <a:r>
              <a:rPr lang="en-US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Isolation Forest detects abnormal movement patterns and unauthorized asset relocation</a:t>
            </a:r>
          </a:p>
          <a:p>
            <a:pPr eaLnBrk="1" fontAlgn="auto" hangingPunct="1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Secure communication</a:t>
            </a:r>
            <a:r>
              <a:rPr lang="en-US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AES-256 encryption, TLS, JWT authentication, and role-based access control</a:t>
            </a:r>
          </a:p>
          <a:p>
            <a:pPr eaLnBrk="1" fontAlgn="auto" hangingPunct="1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Messaging</a:t>
            </a:r>
            <a:r>
              <a:rPr lang="en-US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MQTT  provides lightweight communication between ESP32 devices and the backend</a:t>
            </a:r>
          </a:p>
          <a:p>
            <a:pPr eaLnBrk="1" fontAlgn="auto" hangingPunct="1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Dashboard</a:t>
            </a:r>
            <a:r>
              <a:rPr lang="en-US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 app for real-time location, movement history and security alerts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C7F843-04BE-C58B-5EB6-0B740E3EB3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9C92D9-2D85-3C40-5FB9-41A8A83C15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 and Technologies</a:t>
            </a: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B33F9EBB-D99B-0C6E-9652-82C5C98E281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43259390"/>
              </p:ext>
            </p:extLst>
          </p:nvPr>
        </p:nvGraphicFramePr>
        <p:xfrm>
          <a:off x="472440" y="1295400"/>
          <a:ext cx="8290560" cy="4191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145280">
                  <a:extLst>
                    <a:ext uri="{9D8B030D-6E8A-4147-A177-3AD203B41FA5}">
                      <a16:colId xmlns:a16="http://schemas.microsoft.com/office/drawing/2014/main" val="1656168662"/>
                    </a:ext>
                  </a:extLst>
                </a:gridCol>
                <a:gridCol w="4145280">
                  <a:extLst>
                    <a:ext uri="{9D8B030D-6E8A-4147-A177-3AD203B41FA5}">
                      <a16:colId xmlns:a16="http://schemas.microsoft.com/office/drawing/2014/main" val="4250894371"/>
                    </a:ext>
                  </a:extLst>
                </a:gridCol>
              </a:tblGrid>
              <a:tr h="4191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Category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Technologies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01238212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Hardware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ESP32, Wi-Fi Router, Computer/Laptop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94096681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Programming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Python, Arduino IDE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37405657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Backend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Flask / Fast API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34975138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Frontend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React.js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92398568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Database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PostgreSQL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60249237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Communication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Wi-Fi, MQTT / Mosquitto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83168675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AI / ML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KNN, Isolation Forest, Kalman Filter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89636849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Security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AES-256, TLS, JWT, RBAC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00910729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Development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VS Code, Git &amp; GitHub, Postman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8264119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9692994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44D7DC-182B-92A5-CDAA-2A88DA9DD5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</a:t>
            </a: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28E22DE-C6DF-385C-E960-A68EA629004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655"/>
          <a:stretch>
            <a:fillRect/>
          </a:stretch>
        </p:blipFill>
        <p:spPr>
          <a:xfrm>
            <a:off x="609600" y="1295400"/>
            <a:ext cx="8382000" cy="4472782"/>
          </a:xfrm>
        </p:spPr>
      </p:pic>
    </p:spTree>
    <p:extLst>
      <p:ext uri="{BB962C8B-B14F-4D97-AF65-F5344CB8AC3E}">
        <p14:creationId xmlns:p14="http://schemas.microsoft.com/office/powerpoint/2010/main" val="11384938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AF9D68-6343-618F-5311-DE37BDA2D1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Methodology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D0A32C-8BD8-D50A-42E9-E142C3A824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q"/>
            </a:pP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Requirements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Design 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 Setup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RSSI Data Collection 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Signal Processing 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KNN Localization 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Isolation Forest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Security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Dashboard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Testing</a:t>
            </a:r>
          </a:p>
        </p:txBody>
      </p:sp>
    </p:spTree>
    <p:extLst>
      <p:ext uri="{BB962C8B-B14F-4D97-AF65-F5344CB8AC3E}">
        <p14:creationId xmlns:p14="http://schemas.microsoft.com/office/powerpoint/2010/main" val="271261220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Scope</a:t>
            </a:r>
          </a:p>
        </p:txBody>
      </p:sp>
      <p:sp>
        <p:nvSpPr>
          <p:cNvPr id="16387" name="Text Placeholder 4"/>
          <p:cNvSpPr>
            <a:spLocks noGrp="1"/>
          </p:cNvSpPr>
          <p:nvPr>
            <p:ph type="body" idx="1"/>
          </p:nvPr>
        </p:nvSpPr>
        <p:spPr/>
        <p:txBody>
          <a:bodyPr rtlCol="0">
            <a:normAutofit/>
          </a:bodyPr>
          <a:lstStyle/>
          <a:p>
            <a:pPr marL="44450" eaLnBrk="1" fontAlgn="auto" hangingPunct="1"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secure indoor positioning prototype for a university lab environment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Scope</a:t>
            </a:r>
          </a:p>
        </p:txBody>
      </p:sp>
      <p:sp>
        <p:nvSpPr>
          <p:cNvPr id="14339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fontAlgn="auto" hangingPunct="1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</a:t>
            </a:r>
            <a:r>
              <a:rPr lang="en-US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ESP32 tracking tags and anchor nodes for Wi-Fi/RSSI data collection</a:t>
            </a:r>
          </a:p>
          <a:p>
            <a:pPr eaLnBrk="1" fontAlgn="auto" hangingPunct="1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US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Indoor Positioning: 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Collect RSSI from multiple anchors, process it, and estimate real-time asset position</a:t>
            </a:r>
          </a:p>
          <a:p>
            <a:pPr eaLnBrk="1" fontAlgn="auto" hangingPunct="1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US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AI/Processing: 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Kalman Filter for RSSI smoothing, KNN/fingerprinting for location estimation, Isolation Forest for abnormal movement</a:t>
            </a:r>
          </a:p>
          <a:p>
            <a:pPr eaLnBrk="1" fontAlgn="auto" hangingPunct="1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US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Communication: 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MQTT for transferring data from ESP32/anchors to the backend</a:t>
            </a:r>
          </a:p>
          <a:p>
            <a:pPr eaLnBrk="1" fontAlgn="auto" hangingPunct="1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US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 Dashboard: 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asset location, status, movement history and alerts</a:t>
            </a:r>
          </a:p>
          <a:p>
            <a:pPr eaLnBrk="1" fontAlgn="auto" hangingPunct="1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US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Security: 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Authentication, secure MQTT, encryption/TLS, anomaly detection</a:t>
            </a:r>
          </a:p>
          <a:p>
            <a:pPr eaLnBrk="1" fontAlgn="auto" hangingPunct="1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US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Database: 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Stores asset information, location history, logs and system data</a:t>
            </a:r>
          </a:p>
          <a:p>
            <a:pPr eaLnBrk="1" fontAlgn="auto" hangingPunct="1"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en-US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Scope boundary: 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Prototype developed and evaluated within a university laboratory or similar indoor environment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BF82C6-0E80-9366-2003-F0B3FF2BD6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>
            <a:extLst>
              <a:ext uri="{FF2B5EF4-FFF2-40B4-BE49-F238E27FC236}">
                <a16:creationId xmlns:a16="http://schemas.microsoft.com/office/drawing/2014/main" id="{79045056-5B96-AF87-211A-923B32AD16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Scope</a:t>
            </a:r>
          </a:p>
        </p:txBody>
      </p:sp>
      <p:sp>
        <p:nvSpPr>
          <p:cNvPr id="14339" name="Content Placeholder 2">
            <a:extLst>
              <a:ext uri="{FF2B5EF4-FFF2-40B4-BE49-F238E27FC236}">
                <a16:creationId xmlns:a16="http://schemas.microsoft.com/office/drawing/2014/main" id="{A65545FA-1ECB-483E-890A-964A7B0F21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470852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 Scope:</a:t>
            </a:r>
            <a:endParaRPr lang="en-GB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q"/>
            </a:pPr>
            <a:r>
              <a:rPr lang="en-GB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Development of a secure indoor positioning prototype for a university laboratory or similar indoor environment.</a:t>
            </a:r>
          </a:p>
          <a:p>
            <a:pPr marL="0" indent="0">
              <a:buNone/>
            </a:pPr>
            <a:r>
              <a:rPr lang="en-GB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Areas</a:t>
            </a:r>
          </a:p>
          <a:p>
            <a:pPr marL="0" indent="0">
              <a:buNone/>
            </a:pPr>
            <a:endParaRPr lang="en-GB" sz="17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q"/>
            </a:pPr>
            <a:r>
              <a:rPr lang="en-GB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</a:t>
            </a:r>
            <a:endParaRPr lang="en-GB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Font typeface="Wingdings" panose="05000000000000000000" pitchFamily="2" charset="2"/>
              <a:buChar char="q"/>
            </a:pPr>
            <a:r>
              <a:rPr lang="en-GB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ESP32 tracking tags 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GB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ESP32 anchor nodes 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GB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Wi-Fi/RSSI data collection </a:t>
            </a:r>
          </a:p>
          <a:p>
            <a:pPr marL="457200" lvl="1" indent="0">
              <a:buNone/>
            </a:pPr>
            <a:endParaRPr lang="en-GB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q"/>
            </a:pPr>
            <a:r>
              <a:rPr lang="en-GB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Indoor Positioning</a:t>
            </a:r>
            <a:endParaRPr lang="en-GB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Font typeface="Wingdings" panose="05000000000000000000" pitchFamily="2" charset="2"/>
              <a:buChar char="q"/>
            </a:pPr>
            <a:r>
              <a:rPr lang="en-GB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Collect RSSI from multiple anchors 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GB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 RSSI data 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GB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Estimate real-time asset location </a:t>
            </a:r>
          </a:p>
        </p:txBody>
      </p:sp>
    </p:spTree>
    <p:extLst>
      <p:ext uri="{BB962C8B-B14F-4D97-AF65-F5344CB8AC3E}">
        <p14:creationId xmlns:p14="http://schemas.microsoft.com/office/powerpoint/2010/main" val="103635398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55C02F-55C7-BA47-F09E-2AC8257C02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>
            <a:extLst>
              <a:ext uri="{FF2B5EF4-FFF2-40B4-BE49-F238E27FC236}">
                <a16:creationId xmlns:a16="http://schemas.microsoft.com/office/drawing/2014/main" id="{9F411A37-E2F1-2AC8-0C06-993D3F8F84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1752600" cy="1143000"/>
          </a:xfrm>
        </p:spPr>
        <p:txBody>
          <a:bodyPr/>
          <a:lstStyle/>
          <a:p>
            <a:pPr eaLnBrk="1" hangingPunct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Cont...</a:t>
            </a:r>
          </a:p>
        </p:txBody>
      </p:sp>
      <p:sp>
        <p:nvSpPr>
          <p:cNvPr id="14339" name="Content Placeholder 2">
            <a:extLst>
              <a:ext uri="{FF2B5EF4-FFF2-40B4-BE49-F238E27FC236}">
                <a16:creationId xmlns:a16="http://schemas.microsoft.com/office/drawing/2014/main" id="{69D3C55B-DCFC-DEC2-B2EF-2E29654037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GB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Processing</a:t>
            </a:r>
            <a:endParaRPr lang="en-GB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Font typeface="Wingdings" panose="05000000000000000000" pitchFamily="2" charset="2"/>
              <a:buChar char="q"/>
            </a:pPr>
            <a:r>
              <a:rPr lang="en-GB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Kalman Filter for RSSI smoothing 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GB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KNN/Fingerprinting for location estimation 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GB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Isolation Forest for abnormal movement </a:t>
            </a:r>
          </a:p>
          <a:p>
            <a:pPr marL="457200" lvl="1" indent="0">
              <a:buNone/>
            </a:pPr>
            <a:endParaRPr lang="en-GB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q"/>
            </a:pPr>
            <a:r>
              <a:rPr lang="en-GB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Communication</a:t>
            </a:r>
            <a:endParaRPr lang="en-GB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Font typeface="Wingdings" panose="05000000000000000000" pitchFamily="2" charset="2"/>
              <a:buChar char="q"/>
            </a:pPr>
            <a:r>
              <a:rPr lang="en-GB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MQTT for device-to-backend communication </a:t>
            </a:r>
          </a:p>
          <a:p>
            <a:pPr marL="457200" lvl="1" indent="0">
              <a:buNone/>
            </a:pPr>
            <a:endParaRPr lang="en-GB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q"/>
            </a:pPr>
            <a:r>
              <a:rPr lang="en-GB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Security</a:t>
            </a:r>
            <a:endParaRPr lang="en-GB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Font typeface="Wingdings" panose="05000000000000000000" pitchFamily="2" charset="2"/>
              <a:buChar char="q"/>
            </a:pPr>
            <a:r>
              <a:rPr lang="en-GB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Authentication 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GB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Secure MQTT communication 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GB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Encryption/TLS 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GB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Anomaly detection </a:t>
            </a:r>
          </a:p>
        </p:txBody>
      </p:sp>
    </p:spTree>
    <p:extLst>
      <p:ext uri="{BB962C8B-B14F-4D97-AF65-F5344CB8AC3E}">
        <p14:creationId xmlns:p14="http://schemas.microsoft.com/office/powerpoint/2010/main" val="297445196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D35BAA-5B0F-6068-D6C9-BC35196B48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>
            <a:extLst>
              <a:ext uri="{FF2B5EF4-FFF2-40B4-BE49-F238E27FC236}">
                <a16:creationId xmlns:a16="http://schemas.microsoft.com/office/drawing/2014/main" id="{186D2F72-D9DF-E915-3E39-4A1A033F9B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1676400" cy="1143000"/>
          </a:xfrm>
        </p:spPr>
        <p:txBody>
          <a:bodyPr/>
          <a:lstStyle/>
          <a:p>
            <a:pPr eaLnBrk="1" hangingPunct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Cont..</a:t>
            </a:r>
          </a:p>
        </p:txBody>
      </p:sp>
      <p:sp>
        <p:nvSpPr>
          <p:cNvPr id="14339" name="Content Placeholder 2">
            <a:extLst>
              <a:ext uri="{FF2B5EF4-FFF2-40B4-BE49-F238E27FC236}">
                <a16:creationId xmlns:a16="http://schemas.microsoft.com/office/drawing/2014/main" id="{ECD64EC2-5D55-3C7A-3838-C4DCB0253C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417638"/>
            <a:ext cx="8229600" cy="4525963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GB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 Dashboard</a:t>
            </a:r>
            <a:endParaRPr lang="en-GB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Font typeface="Wingdings" panose="05000000000000000000" pitchFamily="2" charset="2"/>
              <a:buChar char="q"/>
            </a:pPr>
            <a:r>
              <a:rPr lang="en-GB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asset location 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GB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Asset status 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GB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Movement history 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GB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Alerts </a:t>
            </a:r>
          </a:p>
          <a:p>
            <a:pPr marL="457200" lvl="1" indent="0">
              <a:buNone/>
            </a:pPr>
            <a:endParaRPr lang="en-GB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q"/>
            </a:pPr>
            <a:r>
              <a:rPr lang="en-GB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</a:t>
            </a:r>
            <a:endParaRPr lang="en-GB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Font typeface="Wingdings" panose="05000000000000000000" pitchFamily="2" charset="2"/>
              <a:buChar char="q"/>
            </a:pPr>
            <a:r>
              <a:rPr lang="en-GB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Asset information 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GB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Location history 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GB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Logs and system data </a:t>
            </a:r>
          </a:p>
          <a:p>
            <a:pPr marL="457200" lvl="1" indent="0">
              <a:buNone/>
            </a:pPr>
            <a:endParaRPr lang="en-GB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q"/>
            </a:pPr>
            <a:r>
              <a:rPr lang="en-GB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Scope Boundary:</a:t>
            </a:r>
            <a:endParaRPr lang="en-GB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Font typeface="Wingdings" panose="05000000000000000000" pitchFamily="2" charset="2"/>
              <a:buChar char="q"/>
            </a:pPr>
            <a:r>
              <a:rPr lang="en-GB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prototype will be developed and evaluated within a university laboratory or similar indoor environment</a:t>
            </a:r>
          </a:p>
        </p:txBody>
      </p:sp>
    </p:spTree>
    <p:extLst>
      <p:ext uri="{BB962C8B-B14F-4D97-AF65-F5344CB8AC3E}">
        <p14:creationId xmlns:p14="http://schemas.microsoft.com/office/powerpoint/2010/main" val="138106009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5CB183-DFC6-D716-9D62-C404C73D8B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PK" sz="4000" b="1" cap="all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PK" sz="4000" b="1" cap="all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PK" sz="4000" b="1" cap="all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PK" sz="4000" b="1" cap="all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Timeline</a:t>
            </a:r>
          </a:p>
        </p:txBody>
      </p:sp>
    </p:spTree>
    <p:extLst>
      <p:ext uri="{BB962C8B-B14F-4D97-AF65-F5344CB8AC3E}">
        <p14:creationId xmlns:p14="http://schemas.microsoft.com/office/powerpoint/2010/main" val="427122577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F85E0D-B092-7E9A-AFB0-674ACD4E7E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Timeline</a:t>
            </a: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5" name="Content Placeholder 14">
            <a:extLst>
              <a:ext uri="{FF2B5EF4-FFF2-40B4-BE49-F238E27FC236}">
                <a16:creationId xmlns:a16="http://schemas.microsoft.com/office/drawing/2014/main" id="{3852360D-7CE4-7944-21BC-E0A31C4DF93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04715982"/>
              </p:ext>
            </p:extLst>
          </p:nvPr>
        </p:nvGraphicFramePr>
        <p:xfrm>
          <a:off x="449580" y="1417638"/>
          <a:ext cx="8229600" cy="4433904"/>
        </p:xfrm>
        <a:graphic>
          <a:graphicData uri="http://schemas.openxmlformats.org/drawingml/2006/table">
            <a:tbl>
              <a:tblPr>
                <a:tableStyleId>{0660B408-B3CF-4A94-85FC-2B1E0A45F4A2}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4107902274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765694196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357616124"/>
                    </a:ext>
                  </a:extLst>
                </a:gridCol>
              </a:tblGrid>
              <a:tr h="29295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Weeks</a:t>
                      </a:r>
                    </a:p>
                  </a:txBody>
                  <a:tcPr marL="88744" marR="88744" marT="44372" marB="443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Phase</a:t>
                      </a:r>
                    </a:p>
                  </a:txBody>
                  <a:tcPr marL="88744" marR="88744" marT="44372" marB="443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Key</a:t>
                      </a:r>
                      <a:r>
                        <a:rPr lang="en-GB" sz="17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GB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Activities</a:t>
                      </a:r>
                    </a:p>
                  </a:txBody>
                  <a:tcPr marL="88744" marR="88744" marT="44372" marB="443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71811500"/>
                  </a:ext>
                </a:extLst>
              </a:tr>
              <a:tr h="51266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7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1–3</a:t>
                      </a:r>
                    </a:p>
                  </a:txBody>
                  <a:tcPr marL="88744" marR="88744" marT="44372" marB="443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7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Research</a:t>
                      </a:r>
                    </a:p>
                  </a:txBody>
                  <a:tcPr marL="88744" marR="88744" marT="44372" marB="443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7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Literature Review, AI &amp; Cybersecurity Study</a:t>
                      </a:r>
                    </a:p>
                  </a:txBody>
                  <a:tcPr marL="88744" marR="88744" marT="44372" marB="443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25460395"/>
                  </a:ext>
                </a:extLst>
              </a:tr>
              <a:tr h="73238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7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4–6</a:t>
                      </a:r>
                    </a:p>
                  </a:txBody>
                  <a:tcPr marL="88744" marR="88744" marT="44372" marB="443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7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Finalization</a:t>
                      </a:r>
                    </a:p>
                  </a:txBody>
                  <a:tcPr marL="88744" marR="88744" marT="44372" marB="443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7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Feasibility Study, Proposal Refinement &amp; Faculty Approval</a:t>
                      </a:r>
                    </a:p>
                  </a:txBody>
                  <a:tcPr marL="88744" marR="88744" marT="44372" marB="443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61497781"/>
                  </a:ext>
                </a:extLst>
              </a:tr>
              <a:tr h="73238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7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7–9</a:t>
                      </a:r>
                    </a:p>
                  </a:txBody>
                  <a:tcPr marL="88744" marR="88744" marT="44372" marB="443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7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Setup &amp; Data</a:t>
                      </a:r>
                    </a:p>
                  </a:txBody>
                  <a:tcPr marL="88744" marR="88744" marT="44372" marB="443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7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System Design, ESP32 Setup, Wi-Fi &amp; RSSI Data Collection</a:t>
                      </a:r>
                    </a:p>
                  </a:txBody>
                  <a:tcPr marL="88744" marR="88744" marT="44372" marB="443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65143762"/>
                  </a:ext>
                </a:extLst>
              </a:tr>
              <a:tr h="73238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7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10–12</a:t>
                      </a:r>
                    </a:p>
                  </a:txBody>
                  <a:tcPr marL="88744" marR="88744" marT="44372" marB="443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7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AI &amp; Security</a:t>
                      </a:r>
                    </a:p>
                  </a:txBody>
                  <a:tcPr marL="88744" marR="88744" marT="44372" marB="443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7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Kalman Filter, KNN, Isolation Forest, AES-256, TLS, JWT &amp; RBAC</a:t>
                      </a:r>
                    </a:p>
                  </a:txBody>
                  <a:tcPr marL="88744" marR="88744" marT="44372" marB="443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98312964"/>
                  </a:ext>
                </a:extLst>
              </a:tr>
              <a:tr h="73238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7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13–14</a:t>
                      </a:r>
                    </a:p>
                  </a:txBody>
                  <a:tcPr marL="88744" marR="88744" marT="44372" marB="443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7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Integration &amp; Testing</a:t>
                      </a:r>
                    </a:p>
                  </a:txBody>
                  <a:tcPr marL="88744" marR="88744" marT="44372" marB="443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7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Dashboard, Integration, Testing, Evaluation &amp; Final Report</a:t>
                      </a:r>
                    </a:p>
                  </a:txBody>
                  <a:tcPr marL="88744" marR="88744" marT="44372" marB="4437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9920838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8631346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FD4FD2-9AED-5B74-8395-23A44AAFD2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45CED1-18EB-48B8-4BF3-36973463D6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 Break Down Structure</a:t>
            </a: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750D566B-9BAB-062E-67B4-94020CDD59E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05485923"/>
              </p:ext>
            </p:extLst>
          </p:nvPr>
        </p:nvGraphicFramePr>
        <p:xfrm>
          <a:off x="685800" y="1219200"/>
          <a:ext cx="8001000" cy="484133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667000">
                  <a:extLst>
                    <a:ext uri="{9D8B030D-6E8A-4147-A177-3AD203B41FA5}">
                      <a16:colId xmlns:a16="http://schemas.microsoft.com/office/drawing/2014/main" val="1092217051"/>
                    </a:ext>
                  </a:extLst>
                </a:gridCol>
                <a:gridCol w="2667000">
                  <a:extLst>
                    <a:ext uri="{9D8B030D-6E8A-4147-A177-3AD203B41FA5}">
                      <a16:colId xmlns:a16="http://schemas.microsoft.com/office/drawing/2014/main" val="832287181"/>
                    </a:ext>
                  </a:extLst>
                </a:gridCol>
                <a:gridCol w="2667000">
                  <a:extLst>
                    <a:ext uri="{9D8B030D-6E8A-4147-A177-3AD203B41FA5}">
                      <a16:colId xmlns:a16="http://schemas.microsoft.com/office/drawing/2014/main" val="399883140"/>
                    </a:ext>
                  </a:extLst>
                </a:gridCol>
              </a:tblGrid>
              <a:tr h="2639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Work Area</a:t>
                      </a:r>
                    </a:p>
                  </a:txBody>
                  <a:tcPr marL="35638" marR="35638" marT="17819" marB="178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Muhammad Awais Ali</a:t>
                      </a:r>
                    </a:p>
                  </a:txBody>
                  <a:tcPr marL="35638" marR="35638" marT="17819" marB="178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Abdul Ahad</a:t>
                      </a:r>
                    </a:p>
                  </a:txBody>
                  <a:tcPr marL="35638" marR="35638" marT="17819" marB="178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9560649"/>
                  </a:ext>
                </a:extLst>
              </a:tr>
              <a:tr h="65995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7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 Literature Review</a:t>
                      </a:r>
                    </a:p>
                  </a:txBody>
                  <a:tcPr marL="35638" marR="35638" marT="17819" marB="178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7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Study existing Wi-Fi, BLE, RFID and UWB systems</a:t>
                      </a:r>
                    </a:p>
                  </a:txBody>
                  <a:tcPr marL="35638" marR="35638" marT="17819" marB="178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7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Study AI/ML and cybersecurity techniques used in existing systems</a:t>
                      </a:r>
                    </a:p>
                  </a:txBody>
                  <a:tcPr marL="35638" marR="35638" marT="17819" marB="178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31429050"/>
                  </a:ext>
                </a:extLst>
              </a:tr>
              <a:tr h="65995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7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 Requirement Analysis</a:t>
                      </a:r>
                    </a:p>
                  </a:txBody>
                  <a:tcPr marL="35638" marR="35638" marT="17819" marB="178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7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Define hardware and networking requirements</a:t>
                      </a:r>
                    </a:p>
                  </a:txBody>
                  <a:tcPr marL="35638" marR="35638" marT="17819" marB="178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7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Define software, security and dashboard requirements</a:t>
                      </a:r>
                    </a:p>
                  </a:txBody>
                  <a:tcPr marL="35638" marR="35638" marT="17819" marB="178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98403808"/>
                  </a:ext>
                </a:extLst>
              </a:tr>
              <a:tr h="46196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7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 System Design</a:t>
                      </a:r>
                    </a:p>
                  </a:txBody>
                  <a:tcPr marL="35638" marR="35638" marT="17819" marB="178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7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Design ESP32, Wi-Fi and MQTT communication flow</a:t>
                      </a:r>
                    </a:p>
                  </a:txBody>
                  <a:tcPr marL="35638" marR="35638" marT="17819" marB="178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7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Design backend, database, AI and dashboard flow</a:t>
                      </a:r>
                    </a:p>
                  </a:txBody>
                  <a:tcPr marL="35638" marR="35638" marT="17819" marB="178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99973806"/>
                  </a:ext>
                </a:extLst>
              </a:tr>
              <a:tr h="46196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7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4. Hardware Setup</a:t>
                      </a:r>
                    </a:p>
                  </a:txBody>
                  <a:tcPr marL="35638" marR="35638" marT="17819" marB="178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7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Configure ESP32 tracking tags</a:t>
                      </a:r>
                    </a:p>
                  </a:txBody>
                  <a:tcPr marL="35638" marR="35638" marT="17819" marB="178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7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Configure ESP32 anchor nodes and Wi-Fi network</a:t>
                      </a:r>
                    </a:p>
                  </a:txBody>
                  <a:tcPr marL="35638" marR="35638" marT="17819" marB="178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4653947"/>
                  </a:ext>
                </a:extLst>
              </a:tr>
              <a:tr h="46196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7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5. RSSI Data Collection</a:t>
                      </a:r>
                    </a:p>
                  </a:txBody>
                  <a:tcPr marL="35638" marR="35638" marT="17819" marB="178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7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Collect RSSI readings from tracking tags</a:t>
                      </a:r>
                    </a:p>
                  </a:txBody>
                  <a:tcPr marL="35638" marR="35638" marT="17819" marB="178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7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Organize and prepare RSSI data for processing</a:t>
                      </a:r>
                    </a:p>
                  </a:txBody>
                  <a:tcPr marL="35638" marR="35638" marT="17819" marB="178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63151229"/>
                  </a:ext>
                </a:extLst>
              </a:tr>
              <a:tr h="46196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7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6. RSSI Processing</a:t>
                      </a:r>
                    </a:p>
                  </a:txBody>
                  <a:tcPr marL="35638" marR="35638" marT="17819" marB="178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7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RSSI calibration</a:t>
                      </a:r>
                    </a:p>
                  </a:txBody>
                  <a:tcPr marL="35638" marR="35638" marT="17819" marB="178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7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Kalman Filtering and processed RSSI data</a:t>
                      </a:r>
                    </a:p>
                  </a:txBody>
                  <a:tcPr marL="35638" marR="35638" marT="17819" marB="178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28683598"/>
                  </a:ext>
                </a:extLst>
              </a:tr>
              <a:tr h="65995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7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7. AI Localization</a:t>
                      </a:r>
                    </a:p>
                  </a:txBody>
                  <a:tcPr marL="35638" marR="35638" marT="17819" marB="178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7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Prepare fingerprinting/location dataset</a:t>
                      </a:r>
                    </a:p>
                  </a:txBody>
                  <a:tcPr marL="35638" marR="35638" marT="17819" marB="178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7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Implement KNN-based location estimation</a:t>
                      </a:r>
                    </a:p>
                  </a:txBody>
                  <a:tcPr marL="35638" marR="35638" marT="17819" marB="178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1069553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920422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32A6F6-141F-2564-A11F-6DF1928C6F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0"/>
            <a:ext cx="1981200" cy="1143000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Cont..</a:t>
            </a: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9EE0E787-D615-FE5B-C422-0C73C419A80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63322139"/>
              </p:ext>
            </p:extLst>
          </p:nvPr>
        </p:nvGraphicFramePr>
        <p:xfrm>
          <a:off x="685800" y="838200"/>
          <a:ext cx="7848600" cy="554806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616200">
                  <a:extLst>
                    <a:ext uri="{9D8B030D-6E8A-4147-A177-3AD203B41FA5}">
                      <a16:colId xmlns:a16="http://schemas.microsoft.com/office/drawing/2014/main" val="1092217051"/>
                    </a:ext>
                  </a:extLst>
                </a:gridCol>
                <a:gridCol w="2616200">
                  <a:extLst>
                    <a:ext uri="{9D8B030D-6E8A-4147-A177-3AD203B41FA5}">
                      <a16:colId xmlns:a16="http://schemas.microsoft.com/office/drawing/2014/main" val="832287181"/>
                    </a:ext>
                  </a:extLst>
                </a:gridCol>
                <a:gridCol w="2616200">
                  <a:extLst>
                    <a:ext uri="{9D8B030D-6E8A-4147-A177-3AD203B41FA5}">
                      <a16:colId xmlns:a16="http://schemas.microsoft.com/office/drawing/2014/main" val="399883140"/>
                    </a:ext>
                  </a:extLst>
                </a:gridCol>
              </a:tblGrid>
              <a:tr h="1425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Work Area</a:t>
                      </a:r>
                    </a:p>
                  </a:txBody>
                  <a:tcPr marL="35638" marR="35638" marT="17819" marB="178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Muhammad Awais Ali</a:t>
                      </a:r>
                    </a:p>
                  </a:txBody>
                  <a:tcPr marL="35638" marR="35638" marT="17819" marB="178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Abdul Ahad</a:t>
                      </a:r>
                    </a:p>
                  </a:txBody>
                  <a:tcPr marL="35638" marR="35638" marT="17819" marB="178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9560649"/>
                  </a:ext>
                </a:extLst>
              </a:tr>
              <a:tr h="3563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7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8. Anomaly Detection</a:t>
                      </a:r>
                    </a:p>
                  </a:txBody>
                  <a:tcPr marL="35638" marR="35638" marT="17819" marB="178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7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Collect movement data and define normal movement patterns</a:t>
                      </a:r>
                    </a:p>
                  </a:txBody>
                  <a:tcPr marL="35638" marR="35638" marT="17819" marB="178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7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Implement Isolation Forest for abnormal movement detection</a:t>
                      </a:r>
                    </a:p>
                  </a:txBody>
                  <a:tcPr marL="35638" marR="35638" marT="17819" marB="178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89170843"/>
                  </a:ext>
                </a:extLst>
              </a:tr>
              <a:tr h="24946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7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9. Cybersecurity</a:t>
                      </a:r>
                    </a:p>
                  </a:txBody>
                  <a:tcPr marL="35638" marR="35638" marT="17819" marB="178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7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Device/network security and secure MQTT</a:t>
                      </a:r>
                    </a:p>
                  </a:txBody>
                  <a:tcPr marL="35638" marR="35638" marT="17819" marB="178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7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AES-256, TLS, JWT, RBAC and replay protection</a:t>
                      </a:r>
                    </a:p>
                  </a:txBody>
                  <a:tcPr marL="35638" marR="35638" marT="17819" marB="178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45425142"/>
                  </a:ext>
                </a:extLst>
              </a:tr>
              <a:tr h="24946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7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10. Backend &amp; Database</a:t>
                      </a:r>
                    </a:p>
                  </a:txBody>
                  <a:tcPr marL="35638" marR="35638" marT="17819" marB="178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7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MQTT and device-to-backend communication</a:t>
                      </a:r>
                    </a:p>
                  </a:txBody>
                  <a:tcPr marL="35638" marR="35638" marT="17819" marB="178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7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Flask/FastAPI backend and PostgreSQL database</a:t>
                      </a:r>
                    </a:p>
                  </a:txBody>
                  <a:tcPr marL="35638" marR="35638" marT="17819" marB="178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86297965"/>
                  </a:ext>
                </a:extLst>
              </a:tr>
              <a:tr h="24946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7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11. Web Dashboard</a:t>
                      </a:r>
                    </a:p>
                  </a:txBody>
                  <a:tcPr marL="35638" marR="35638" marT="17819" marB="178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7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Provide location/device data integration</a:t>
                      </a:r>
                    </a:p>
                  </a:txBody>
                  <a:tcPr marL="35638" marR="35638" marT="17819" marB="178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7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Develop React.js monitoring dashboard</a:t>
                      </a:r>
                    </a:p>
                  </a:txBody>
                  <a:tcPr marL="35638" marR="35638" marT="17819" marB="178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6441423"/>
                  </a:ext>
                </a:extLst>
              </a:tr>
              <a:tr h="24946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7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12. Testing</a:t>
                      </a:r>
                    </a:p>
                  </a:txBody>
                  <a:tcPr marL="35638" marR="35638" marT="17819" marB="178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7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Test ESP32, Wi-Fi, RSSI and communication</a:t>
                      </a:r>
                    </a:p>
                  </a:txBody>
                  <a:tcPr marL="35638" marR="35638" marT="17819" marB="178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7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Test AI, security, dashboard and database</a:t>
                      </a:r>
                    </a:p>
                  </a:txBody>
                  <a:tcPr marL="35638" marR="35638" marT="17819" marB="178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05941703"/>
                  </a:ext>
                </a:extLst>
              </a:tr>
              <a:tr h="3563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7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13. Final Evaluation</a:t>
                      </a:r>
                    </a:p>
                  </a:txBody>
                  <a:tcPr marL="35638" marR="35638" marT="17819" marB="178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7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Localization accuracy, communication latency and reliability</a:t>
                      </a:r>
                    </a:p>
                  </a:txBody>
                  <a:tcPr marL="35638" marR="35638" marT="17819" marB="178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7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Anomaly detection, security and dashboard testing</a:t>
                      </a:r>
                    </a:p>
                  </a:txBody>
                  <a:tcPr marL="35638" marR="35638" marT="17819" marB="178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47999333"/>
                  </a:ext>
                </a:extLst>
              </a:tr>
              <a:tr h="3563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7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14. Documentation</a:t>
                      </a:r>
                    </a:p>
                  </a:txBody>
                  <a:tcPr marL="35638" marR="35638" marT="17819" marB="178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7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Hardware, networking and implementation documentation</a:t>
                      </a:r>
                    </a:p>
                  </a:txBody>
                  <a:tcPr marL="35638" marR="35638" marT="17819" marB="178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7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AI, security, software and dashboard documentation</a:t>
                      </a:r>
                    </a:p>
                  </a:txBody>
                  <a:tcPr marL="35638" marR="35638" marT="17819" marB="178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09844563"/>
                  </a:ext>
                </a:extLst>
              </a:tr>
              <a:tr h="24946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7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15. Final Presentation</a:t>
                      </a:r>
                    </a:p>
                  </a:txBody>
                  <a:tcPr marL="35638" marR="35638" marT="17819" marB="178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7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Architecture, hardware and communication sections</a:t>
                      </a:r>
                    </a:p>
                  </a:txBody>
                  <a:tcPr marL="35638" marR="35638" marT="17819" marB="178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7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AI, security, software and results sections</a:t>
                      </a:r>
                    </a:p>
                  </a:txBody>
                  <a:tcPr marL="35638" marR="35638" marT="17819" marB="1781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1759729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1564254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Thank you Images - Free Download on Magnific (formerly Freepik)">
            <a:extLst>
              <a:ext uri="{FF2B5EF4-FFF2-40B4-BE49-F238E27FC236}">
                <a16:creationId xmlns:a16="http://schemas.microsoft.com/office/drawing/2014/main" id="{23843DE8-A4E4-5A09-FB3C-FBD476B6F2B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19200" y="457200"/>
            <a:ext cx="7096125" cy="50216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58465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975</TotalTime>
  <Words>1411</Words>
  <Application>Microsoft Office PowerPoint</Application>
  <PresentationFormat>On-screen Show (4:3)</PresentationFormat>
  <Paragraphs>264</Paragraphs>
  <Slides>26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1" baseType="lpstr">
      <vt:lpstr>Arial</vt:lpstr>
      <vt:lpstr>Calibri</vt:lpstr>
      <vt:lpstr>Times New Roman</vt:lpstr>
      <vt:lpstr>Wingdings</vt:lpstr>
      <vt:lpstr>Office Theme</vt:lpstr>
      <vt:lpstr>Final Year Project Proposal</vt:lpstr>
      <vt:lpstr>Project Team</vt:lpstr>
      <vt:lpstr>Table of Content</vt:lpstr>
      <vt:lpstr>Opportunity &amp; Stakeholders</vt:lpstr>
      <vt:lpstr>Opportunity &amp; Stakeholders</vt:lpstr>
      <vt:lpstr>Existing Systems</vt:lpstr>
      <vt:lpstr>Existing Systems</vt:lpstr>
      <vt:lpstr>Comparison Chart of Existing Systems</vt:lpstr>
      <vt:lpstr>Cont..</vt:lpstr>
      <vt:lpstr>Problem Statement</vt:lpstr>
      <vt:lpstr>Problem Statement</vt:lpstr>
      <vt:lpstr>Proposed Solution</vt:lpstr>
      <vt:lpstr>Proposed Solution</vt:lpstr>
      <vt:lpstr>Tools and Technologies</vt:lpstr>
      <vt:lpstr>System Architecture</vt:lpstr>
      <vt:lpstr>Proposed Methodology</vt:lpstr>
      <vt:lpstr>Project Scope</vt:lpstr>
      <vt:lpstr>Project Scope</vt:lpstr>
      <vt:lpstr>Project Scope</vt:lpstr>
      <vt:lpstr>Cont...</vt:lpstr>
      <vt:lpstr>Cont..</vt:lpstr>
      <vt:lpstr>PowerPoint Presentation</vt:lpstr>
      <vt:lpstr>Timeline</vt:lpstr>
      <vt:lpstr>Work Break Down Structure</vt:lpstr>
      <vt:lpstr>Cont..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Final Year Project Proposal</dc:title>
  <dc:creator>Khan</dc:creator>
  <cp:lastModifiedBy>Abdul Ahad</cp:lastModifiedBy>
  <cp:revision>24</cp:revision>
  <dcterms:created xsi:type="dcterms:W3CDTF">2013-01-22T07:04:44Z</dcterms:created>
  <dcterms:modified xsi:type="dcterms:W3CDTF">2026-09-16T04:51:49Z</dcterms:modified>
</cp:coreProperties>
</file>